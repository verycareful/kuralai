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617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
</a:t>
            </a: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and Engineering  ·  Design and Innovation Club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509760" y="4114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D232D"/>
          </a:solidFill>
          <a:ln w="12700">
            <a:solidFill>
              <a:srgbClr val="C6F24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9509760" y="411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HACKATHON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Expressive Tamil Audiobook Generator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052560" y="3611880"/>
            <a:ext cx="173736" cy="320040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9308592" y="3337560"/>
            <a:ext cx="173736" cy="59436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564624" y="3017520"/>
            <a:ext cx="173736" cy="91440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9820656" y="3474720"/>
            <a:ext cx="173736" cy="457200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0076688" y="2743200"/>
            <a:ext cx="173736" cy="118872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0332720" y="3200400"/>
            <a:ext cx="173736" cy="73152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0588752" y="2560320"/>
            <a:ext cx="173736" cy="1371600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0844784" y="3383280"/>
            <a:ext cx="173736" cy="54864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1100816" y="2926080"/>
            <a:ext cx="173736" cy="100584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1356848" y="3520440"/>
            <a:ext cx="173736" cy="411480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1612880" y="3108960"/>
            <a:ext cx="173736" cy="82296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1868912" y="3566160"/>
            <a:ext cx="173736" cy="36576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0"/>
          </a:xfrm>
          <a:prstGeom prst="line">
            <a:avLst/>
          </a:prstGeom>
          <a:noFill/>
          <a:ln w="12700">
            <a:solidFill>
              <a:srgbClr val="1D232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48640" y="5715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·  KuralAI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Sricharan Suresh
</a:t>
            </a: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RA2311003040063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6035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 Shankar B
</a:t>
            </a: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RA231003040045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63840" y="6035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 Vignesh B
</a:t>
            </a: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RA231003040020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Expressive Tamil Audiobook Generator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Text-to-Speech system that converts Tamil stories and literature into expressive, emotion-aware audiobooks — narrated with distinct character voices and broadcast-ready audio quality.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171C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39136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80360" y="39776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speakers worldwide — still underserved by expressive TTS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9320" y="1691640"/>
            <a:ext cx="2596896" cy="1051560"/>
          </a:xfrm>
          <a:prstGeom prst="roundRect">
            <a:avLst>
              <a:gd name="adj" fmla="val 6087"/>
            </a:avLst>
          </a:prstGeom>
          <a:solidFill>
            <a:srgbClr val="171C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190488" y="1892808"/>
            <a:ext cx="457200" cy="457200"/>
          </a:xfrm>
          <a:prstGeom prst="ellipse">
            <a:avLst/>
          </a:prstGeom>
          <a:solidFill>
            <a:srgbClr val="1D232D"/>
          </a:solidFill>
          <a:ln w="19050">
            <a:solidFill>
              <a:srgbClr val="C6F2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19048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12280" y="1837944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Speech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12280" y="214884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Tamil pronunciation &amp; flow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87968" y="1691640"/>
            <a:ext cx="2596896" cy="1051560"/>
          </a:xfrm>
          <a:prstGeom prst="roundRect">
            <a:avLst>
              <a:gd name="adj" fmla="val 6087"/>
            </a:avLst>
          </a:prstGeom>
          <a:solidFill>
            <a:srgbClr val="171C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9089136" y="1892808"/>
            <a:ext cx="457200" cy="457200"/>
          </a:xfrm>
          <a:prstGeom prst="ellipse">
            <a:avLst/>
          </a:prstGeom>
          <a:solidFill>
            <a:srgbClr val="1D232D"/>
          </a:solidFill>
          <a:ln w="19050">
            <a:solidFill>
              <a:srgbClr val="2EC4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089136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10928" y="1837944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710928" y="214884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Joy, sorrow, anger, fear, surprise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2944368"/>
            <a:ext cx="2596896" cy="1051560"/>
          </a:xfrm>
          <a:prstGeom prst="roundRect">
            <a:avLst>
              <a:gd name="adj" fmla="val 6087"/>
            </a:avLst>
          </a:prstGeom>
          <a:solidFill>
            <a:srgbClr val="171C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190488" y="3145536"/>
            <a:ext cx="457200" cy="457200"/>
          </a:xfrm>
          <a:prstGeom prst="ellipse">
            <a:avLst/>
          </a:prstGeom>
          <a:solidFill>
            <a:srgbClr val="1D232D"/>
          </a:solidFill>
          <a:ln w="19050">
            <a:solidFill>
              <a:srgbClr val="C6F2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190488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12280" y="309067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Voices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12280" y="3401568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voice per speaker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87968" y="2944368"/>
            <a:ext cx="2596896" cy="1051560"/>
          </a:xfrm>
          <a:prstGeom prst="roundRect">
            <a:avLst>
              <a:gd name="adj" fmla="val 6087"/>
            </a:avLst>
          </a:prstGeom>
          <a:solidFill>
            <a:srgbClr val="171C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089136" y="3145536"/>
            <a:ext cx="457200" cy="457200"/>
          </a:xfrm>
          <a:prstGeom prst="ellipse">
            <a:avLst/>
          </a:prstGeom>
          <a:solidFill>
            <a:srgbClr val="1D232D"/>
          </a:solidFill>
          <a:ln w="19050">
            <a:solidFill>
              <a:srgbClr val="2EC4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089136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10928" y="309067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Quality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710928" y="3401568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&amp; modern literature, broadcast audio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02 / 08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ABSTRACT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Deserves More Than Monotone TTS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TTS today produces flat, monotone speech that strips away the emotional richness of Sangam poetry and modern fiction alike. KuralAI pairs a lightweight, rule-based emotion tagger with neural TTS to deliver narration that respects the source material's dramatic intent — without requiring GPU-heavy models.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171C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2990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502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speakers with no expressive TTS option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28803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171C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0" y="2990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0" y="3502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categories detected per segment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0" y="28803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171C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366760" y="2990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366760" y="3502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required — runs on any device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1A1315"/>
          </a:solidFill>
          <a:ln w="12700">
            <a:solidFill>
              <a:srgbClr val="3A22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4507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TAMIL TTS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846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monotone delivery  ·  Single generic voice  ·  Ignores emotional context in the text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3434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12201A"/>
          </a:solidFill>
          <a:ln w="12700">
            <a:solidFill>
              <a:srgbClr val="C6F2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92240" y="4507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 APPROACH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4846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prosody  ·  Distinct multi-character voices  ·  Lightweight, edge-friendly pipeline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03 / 08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C6F24E"/>
                </a:solidFill>
                <a:latin typeface="Calibri"/>
              </a:defRPr>
            </a:pPr>
            <a:r>
              <a:t>SYSTEM DESIGN · STATE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UML State Lifecycle &amp; Transitions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AA5B1"/>
                </a:solidFill>
                <a:latin typeface="Calibri"/>
              </a:defRPr>
            </a:pPr>
            <a:r>
              <a:t>Event-driven state transitions from request ingestion and rule-based NLP tagging to multi-voice audio synthesis and streaming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" y="2011680"/>
            <a:ext cx="11338560" cy="2685486"/>
          </a:xfrm>
          <a:prstGeom prst="roundRect">
            <a:avLst/>
          </a:prstGeom>
          <a:solidFill>
            <a:srgbClr val="131B2A"/>
          </a:solidFill>
          <a:ln w="12700">
            <a:solidFill>
              <a:srgbClr val="23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2148840"/>
            <a:ext cx="11064240" cy="24111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80046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B7480"/>
                </a:solidFill>
                <a:latin typeface="Calibri"/>
              </a:defRPr>
            </a:pPr>
            <a:r>
              <a:t>Fig. 2 — UML State Machine: Ingestion → NLP Tagging → Voice Dispatch → Neural Synthesis →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>
                <a:solidFill>
                  <a:srgbClr val="6B7480"/>
                </a:solidFill>
                <a:latin typeface="Calibri"/>
              </a:defRPr>
            </a:pPr>
            <a:r>
              <a:t>04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B7480"/>
                </a:solidFill>
                <a:latin typeface="Calibri"/>
              </a:defRPr>
            </a:pPr>
            <a:r>
              <a:t>KuralAI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· DETAILED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Logic &amp; Voice Dispatch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text ingestion through speaker attribution, emotion tagging, voice dispatch, and silence-aware audio stitching to final delivery.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5196" y="2011680"/>
            <a:ext cx="11338560" cy="2685486"/>
          </a:xfrm>
          <a:prstGeom prst="roundRect">
            <a:avLst>
              <a:gd name="adj" fmla="val 2724"/>
            </a:avLst>
          </a:prstGeom>
          <a:solidFill>
            <a:srgbClr val="171C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48640" y="488004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100">
                <a:solidFill>
                  <a:srgbClr val="6B7480"/>
                </a:solidFill>
                <a:latin typeface="Calibri"/>
              </a:defRPr>
            </a:pPr>
            <a:r>
              <a:t>Fig. 3 — Detailed pipeline logic: ingestion → tagging → voice dispatch → stitched audio → delivery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05 / 08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</a:t>
            </a:r>
            <a:endParaRPr lang="en-US" sz="900" dirty="0"/>
          </a:p>
        </p:txBody>
      </p:sp>
      <p:pic>
        <p:nvPicPr>
          <p:cNvPr id="10" name="Picture 9" descr="workflow_diagram_16x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2148840"/>
            <a:ext cx="11064240" cy="24111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1200" b="1">
                <a:solidFill>
                  <a:srgbClr val="C6F24E"/>
                </a:solidFill>
                <a:latin typeface="Calibri"/>
              </a:defRPr>
            </a:pPr>
            <a:r>
              <a:t>WORKING PROTOTYPE · ROUND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800" b="1">
                <a:solidFill>
                  <a:srgbClr val="FFFFFF"/>
                </a:solidFill>
                <a:latin typeface="Calibri"/>
              </a:defRPr>
            </a:pPr>
            <a:r>
              <a:t>From Text to Expressive Audiobook, Live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Features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1D232D"/>
          </a:solidFill>
          <a:ln w="19050">
            <a:solidFill>
              <a:srgbClr val="C6F2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1400" dirty="0">
                <a:solidFill>
                  <a:schemeClr val="bg1"/>
                </a:solidFill>
              </a:rPr>
              <a:t>8 Regional Neural Voices with </a:t>
            </a:r>
            <a:r>
              <a:rPr sz="1400" dirty="0" err="1">
                <a:solidFill>
                  <a:schemeClr val="bg1"/>
                </a:solidFill>
              </a:rPr>
              <a:t>choosable</a:t>
            </a:r>
            <a:r>
              <a:rPr sz="1400" dirty="0">
                <a:solidFill>
                  <a:schemeClr val="bg1"/>
                </a:solidFill>
              </a:rPr>
              <a:t> narrator (India, Sri Lanka, Malaysia, Singapore)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365760" cy="365760"/>
          </a:xfrm>
          <a:prstGeom prst="ellipse">
            <a:avLst/>
          </a:prstGeom>
          <a:solidFill>
            <a:srgbClr val="1D232D"/>
          </a:solidFill>
          <a:ln w="19050">
            <a:solidFill>
              <a:srgbClr val="2EC4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96896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1400" dirty="0" err="1">
                <a:solidFill>
                  <a:schemeClr val="bg1"/>
                </a:solidFill>
              </a:rPr>
              <a:t>Navarasa</a:t>
            </a:r>
            <a:r>
              <a:rPr sz="1400" dirty="0">
                <a:solidFill>
                  <a:schemeClr val="bg1"/>
                </a:solidFill>
              </a:rPr>
              <a:t> Emotion Engine (65+ keywords &amp; punctuation rate modulation)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365760" cy="365760"/>
          </a:xfrm>
          <a:prstGeom prst="ellipse">
            <a:avLst/>
          </a:prstGeom>
          <a:solidFill>
            <a:srgbClr val="1D232D"/>
          </a:solidFill>
          <a:ln w="19050">
            <a:solidFill>
              <a:srgbClr val="C6F2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163824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1400">
                <a:solidFill>
                  <a:schemeClr val="bg1"/>
                </a:solidFill>
              </a:rPr>
              <a:t>Regex Dialogue Segmentation &amp; heuristic multi-character attribution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365760" cy="365760"/>
          </a:xfrm>
          <a:prstGeom prst="ellipse">
            <a:avLst/>
          </a:prstGeom>
          <a:solidFill>
            <a:srgbClr val="1D232D"/>
          </a:solidFill>
          <a:ln w="19050">
            <a:solidFill>
              <a:srgbClr val="2EC4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730752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1400" dirty="0">
                <a:solidFill>
                  <a:schemeClr val="bg1"/>
                </a:solidFill>
              </a:rPr>
              <a:t>Silence-aware audio stitching (450ms dialogue / 200ms narration pauses)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0936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2057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680960" y="2057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HTML5 / Vanilla CSS / JS (with offline static fallback)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09360" y="2514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680960" y="2514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Python 3.12 (Flask backend + REST API)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680960" y="2971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Rule-based regex NLP (Zero GPU, zero latency, 100% explainable)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09360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680960" y="3429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dirty="0">
                <a:solidFill>
                  <a:schemeClr val="bg1"/>
                </a:solidFill>
              </a:rPr>
              <a:t>Microsoft Edge TTS — 8 neural voices across 4 regions, free &amp; zero API key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09360" y="3886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0960" y="38862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PyDub + FFmpeg — dynamic silence insertion &amp; broadcast MP3 export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22376" y="507492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171C24"/>
          </a:solidFill>
          <a:ln w="12700">
            <a:solidFill>
              <a:srgbClr val="6B74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22376" y="5074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06624" y="5308092"/>
            <a:ext cx="192024" cy="146304"/>
          </a:xfrm>
          <a:prstGeom prst="rightArrow">
            <a:avLst/>
          </a:prstGeom>
          <a:solidFill>
            <a:srgbClr val="6B74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2916936" y="507492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171C24"/>
          </a:solidFill>
          <a:ln w="12700">
            <a:solidFill>
              <a:srgbClr val="6B74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2916936" y="5074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01184" y="5308092"/>
            <a:ext cx="192024" cy="146304"/>
          </a:xfrm>
          <a:prstGeom prst="rightArrow">
            <a:avLst/>
          </a:prstGeom>
          <a:solidFill>
            <a:srgbClr val="6B74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5111496" y="507492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171C24"/>
          </a:solidFill>
          <a:ln w="12700">
            <a:solidFill>
              <a:srgbClr val="C6F2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111496" y="5074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Emotion Tag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095744" y="5308092"/>
            <a:ext cx="192024" cy="146304"/>
          </a:xfrm>
          <a:prstGeom prst="rightArrow">
            <a:avLst/>
          </a:prstGeom>
          <a:solidFill>
            <a:srgbClr val="6B74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306056" y="507492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171C24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306056" y="5074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 Synthesis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290304" y="5308092"/>
            <a:ext cx="192024" cy="146304"/>
          </a:xfrm>
          <a:prstGeom prst="rightArrow">
            <a:avLst/>
          </a:prstGeom>
          <a:solidFill>
            <a:srgbClr val="6B74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500616" y="5074920"/>
            <a:ext cx="1965960" cy="594360"/>
          </a:xfrm>
          <a:prstGeom prst="roundRect">
            <a:avLst>
              <a:gd name="adj" fmla="val 49231"/>
            </a:avLst>
          </a:prstGeom>
          <a:solidFill>
            <a:srgbClr val="171C24"/>
          </a:solidFill>
          <a:ln w="12700">
            <a:solidFill>
              <a:srgbClr val="6B74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9500616" y="50749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Output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06 / 08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is live — paste Tamil text or pick a sample passage and generate a multi-voice audiobook in the browser.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94076" y="1783080"/>
            <a:ext cx="6400800" cy="3701083"/>
          </a:xfrm>
          <a:prstGeom prst="roundRect">
            <a:avLst>
              <a:gd name="adj" fmla="val 1977"/>
            </a:avLst>
          </a:prstGeom>
          <a:solidFill>
            <a:srgbClr val="FFFFFF"/>
          </a:solidFill>
          <a:ln w="12700">
            <a:solidFill>
              <a:srgbClr val="1D23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894076" y="1783080"/>
            <a:ext cx="6400800" cy="347472"/>
          </a:xfrm>
          <a:prstGeom prst="roundRect">
            <a:avLst>
              <a:gd name="adj" fmla="val 21053"/>
            </a:avLst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058668" y="1901952"/>
            <a:ext cx="109728" cy="109728"/>
          </a:xfrm>
          <a:prstGeom prst="ellipse">
            <a:avLst/>
          </a:prstGeom>
          <a:solidFill>
            <a:srgbClr val="E060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259836" y="1901952"/>
            <a:ext cx="109728" cy="109728"/>
          </a:xfrm>
          <a:prstGeom prst="ellipse">
            <a:avLst/>
          </a:prstGeom>
          <a:solidFill>
            <a:srgbClr val="E5B8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461004" y="1901952"/>
            <a:ext cx="109728" cy="109728"/>
          </a:xfrm>
          <a:prstGeom prst="ellipse">
            <a:avLst/>
          </a:prstGeom>
          <a:solidFill>
            <a:srgbClr val="5CB8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808476" y="1847088"/>
            <a:ext cx="5212080" cy="219456"/>
          </a:xfrm>
          <a:prstGeom prst="roundRect">
            <a:avLst>
              <a:gd name="adj" fmla="val 41667"/>
            </a:avLst>
          </a:prstGeom>
          <a:solidFill>
            <a:srgbClr val="2A30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945636" y="184708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verycareful.github.io/KuralAI</a:t>
            </a:r>
            <a:endParaRPr lang="en-US" sz="1050" dirty="0"/>
          </a:p>
        </p:txBody>
      </p:sp>
      <p:pic>
        <p:nvPicPr>
          <p:cNvPr id="12" name="Image 0" descr="/home/claude/build/Screenshot_2026-08-14_0940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076" y="2130552"/>
            <a:ext cx="6400800" cy="335361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5740195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prototype: </a:t>
            </a:r>
            <a:r>
              <a:rPr lang="en-US" sz="1300" b="1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verycareful.github.io/KuralAI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00023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07 / 08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58284" y="2011680"/>
            <a:ext cx="173736" cy="274320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814316" y="1783080"/>
            <a:ext cx="173736" cy="50292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5070348" y="1463040"/>
            <a:ext cx="173736" cy="82296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326380" y="1874520"/>
            <a:ext cx="173736" cy="411480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582412" y="1280160"/>
            <a:ext cx="173736" cy="100584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838444" y="1645920"/>
            <a:ext cx="173736" cy="64008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094476" y="1143000"/>
            <a:ext cx="173736" cy="1143000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350508" y="1828800"/>
            <a:ext cx="173736" cy="45720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606540" y="1417320"/>
            <a:ext cx="173736" cy="86868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862572" y="1920240"/>
            <a:ext cx="173736" cy="365760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118604" y="1600200"/>
            <a:ext cx="173736" cy="68580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374636" y="1965960"/>
            <a:ext cx="173736" cy="320040"/>
          </a:xfrm>
          <a:prstGeom prst="roundRect">
            <a:avLst>
              <a:gd name="adj" fmla="val 26316"/>
            </a:avLst>
          </a:prstGeom>
          <a:solidFill>
            <a:srgbClr val="C6F24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0" y="27432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6F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KuralAI  ·  Expressive Tamil Audiobook Generator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Sricharan Suresh   ·   Mani Shankar B   ·   Jai Vignesh 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574</Words>
  <Application>Microsoft Office PowerPoint</Application>
  <PresentationFormat>Widescreen</PresentationFormat>
  <Paragraphs>101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Sricharan Suresh</cp:lastModifiedBy>
  <cp:revision>3</cp:revision>
  <dcterms:created xsi:type="dcterms:W3CDTF">2026-08-14T04:13:22Z</dcterms:created>
  <dcterms:modified xsi:type="dcterms:W3CDTF">2026-08-14T05:10:02Z</dcterms:modified>
</cp:coreProperties>
</file>