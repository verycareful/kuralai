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INSTITUTE OF SCIENCE AND TECHNOLOGY
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and Engineering  ·  Design and Innovation Club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509760" y="41148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D232D"/>
          </a:solidFill>
          <a:ln w="12700">
            <a:solidFill>
              <a:srgbClr val="C6F2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4114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HACKATHON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KuralAI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566928" y="34290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Expressive Tamil Audiobook Generator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052560" y="3611880"/>
            <a:ext cx="173736" cy="320040"/>
          </a:xfrm>
          <a:prstGeom prst="roundRect">
            <a:avLst>
              <a:gd name="adj" fmla="val 26316"/>
            </a:avLst>
          </a:prstGeom>
          <a:solidFill>
            <a:srgbClr val="2EC4B6"/>
          </a:solidFill>
          <a:ln/>
        </p:spPr>
      </p:sp>
      <p:sp>
        <p:nvSpPr>
          <p:cNvPr id="8" name="Shape 6"/>
          <p:cNvSpPr/>
          <p:nvPr/>
        </p:nvSpPr>
        <p:spPr>
          <a:xfrm>
            <a:off x="9308592" y="3337560"/>
            <a:ext cx="173736" cy="594360"/>
          </a:xfrm>
          <a:prstGeom prst="roundRect">
            <a:avLst>
              <a:gd name="adj" fmla="val 26316"/>
            </a:avLst>
          </a:prstGeom>
          <a:solidFill>
            <a:srgbClr val="C6F24E"/>
          </a:solidFill>
          <a:ln/>
        </p:spPr>
      </p:sp>
      <p:sp>
        <p:nvSpPr>
          <p:cNvPr id="9" name="Shape 7"/>
          <p:cNvSpPr/>
          <p:nvPr/>
        </p:nvSpPr>
        <p:spPr>
          <a:xfrm>
            <a:off x="9564624" y="3017520"/>
            <a:ext cx="173736" cy="914400"/>
          </a:xfrm>
          <a:prstGeom prst="roundRect">
            <a:avLst>
              <a:gd name="adj" fmla="val 26316"/>
            </a:avLst>
          </a:prstGeom>
          <a:solidFill>
            <a:srgbClr val="C6F24E"/>
          </a:solidFill>
          <a:ln/>
        </p:spPr>
      </p:sp>
      <p:sp>
        <p:nvSpPr>
          <p:cNvPr id="10" name="Shape 8"/>
          <p:cNvSpPr/>
          <p:nvPr/>
        </p:nvSpPr>
        <p:spPr>
          <a:xfrm>
            <a:off x="9820656" y="3474720"/>
            <a:ext cx="173736" cy="457200"/>
          </a:xfrm>
          <a:prstGeom prst="roundRect">
            <a:avLst>
              <a:gd name="adj" fmla="val 26316"/>
            </a:avLst>
          </a:prstGeom>
          <a:solidFill>
            <a:srgbClr val="2EC4B6"/>
          </a:solidFill>
          <a:ln/>
        </p:spPr>
      </p:sp>
      <p:sp>
        <p:nvSpPr>
          <p:cNvPr id="11" name="Shape 9"/>
          <p:cNvSpPr/>
          <p:nvPr/>
        </p:nvSpPr>
        <p:spPr>
          <a:xfrm>
            <a:off x="10076688" y="2743200"/>
            <a:ext cx="173736" cy="1188720"/>
          </a:xfrm>
          <a:prstGeom prst="roundRect">
            <a:avLst>
              <a:gd name="adj" fmla="val 26316"/>
            </a:avLst>
          </a:prstGeom>
          <a:solidFill>
            <a:srgbClr val="C6F24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332720" y="3200400"/>
            <a:ext cx="173736" cy="731520"/>
          </a:xfrm>
          <a:prstGeom prst="roundRect">
            <a:avLst>
              <a:gd name="adj" fmla="val 26316"/>
            </a:avLst>
          </a:prstGeom>
          <a:solidFill>
            <a:srgbClr val="C6F24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88752" y="2560320"/>
            <a:ext cx="173736" cy="1371600"/>
          </a:xfrm>
          <a:prstGeom prst="roundRect">
            <a:avLst>
              <a:gd name="adj" fmla="val 26316"/>
            </a:avLst>
          </a:prstGeom>
          <a:solidFill>
            <a:srgbClr val="2EC4B6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44784" y="3383280"/>
            <a:ext cx="173736" cy="548640"/>
          </a:xfrm>
          <a:prstGeom prst="roundRect">
            <a:avLst>
              <a:gd name="adj" fmla="val 26316"/>
            </a:avLst>
          </a:prstGeom>
          <a:solidFill>
            <a:srgbClr val="C6F24E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00816" y="2926080"/>
            <a:ext cx="173736" cy="1005840"/>
          </a:xfrm>
          <a:prstGeom prst="roundRect">
            <a:avLst>
              <a:gd name="adj" fmla="val 26316"/>
            </a:avLst>
          </a:prstGeom>
          <a:solidFill>
            <a:srgbClr val="C6F24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356848" y="3520440"/>
            <a:ext cx="173736" cy="411480"/>
          </a:xfrm>
          <a:prstGeom prst="roundRect">
            <a:avLst>
              <a:gd name="adj" fmla="val 26316"/>
            </a:avLst>
          </a:prstGeom>
          <a:solidFill>
            <a:srgbClr val="2EC4B6"/>
          </a:solidFill>
          <a:ln/>
        </p:spPr>
      </p:sp>
      <p:sp>
        <p:nvSpPr>
          <p:cNvPr id="17" name="Shape 15"/>
          <p:cNvSpPr/>
          <p:nvPr/>
        </p:nvSpPr>
        <p:spPr>
          <a:xfrm>
            <a:off x="11612880" y="3108960"/>
            <a:ext cx="173736" cy="822960"/>
          </a:xfrm>
          <a:prstGeom prst="roundRect">
            <a:avLst>
              <a:gd name="adj" fmla="val 26316"/>
            </a:avLst>
          </a:prstGeom>
          <a:solidFill>
            <a:srgbClr val="C6F24E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68912" y="3566160"/>
            <a:ext cx="173736" cy="365760"/>
          </a:xfrm>
          <a:prstGeom prst="roundRect">
            <a:avLst>
              <a:gd name="adj" fmla="val 26316"/>
            </a:avLst>
          </a:prstGeom>
          <a:solidFill>
            <a:srgbClr val="C6F24E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5532120"/>
            <a:ext cx="11064240" cy="0"/>
          </a:xfrm>
          <a:prstGeom prst="line">
            <a:avLst/>
          </a:prstGeom>
          <a:noFill/>
          <a:ln w="12700">
            <a:solidFill>
              <a:srgbClr val="1D23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715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·  KuralAI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035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Sricharan Suresh
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RA2311003040063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06240" y="6035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 Shankar B
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RA231003040045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863840" y="6035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 Vignesh B
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RA231003040020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Expressive Tamil Audiobook Generator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Text-to-Speech system that converts Tamil stories and literature into expressive, emotion-aware audiobooks — narrated with distinct character voices and broadcast-ready audio quality.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171C2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9136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80M+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880360" y="397764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speakers worldwide — still underserved by expressive TTS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89320" y="1691640"/>
            <a:ext cx="2596896" cy="1051560"/>
          </a:xfrm>
          <a:prstGeom prst="roundRect">
            <a:avLst>
              <a:gd name="adj" fmla="val 6087"/>
            </a:avLst>
          </a:prstGeom>
          <a:solidFill>
            <a:srgbClr val="171C24"/>
          </a:solidFill>
          <a:ln/>
        </p:spPr>
      </p:sp>
      <p:sp>
        <p:nvSpPr>
          <p:cNvPr id="9" name="Shape 7"/>
          <p:cNvSpPr/>
          <p:nvPr/>
        </p:nvSpPr>
        <p:spPr>
          <a:xfrm>
            <a:off x="6190488" y="1892808"/>
            <a:ext cx="457200" cy="457200"/>
          </a:xfrm>
          <a:prstGeom prst="ellipse">
            <a:avLst/>
          </a:prstGeom>
          <a:solidFill>
            <a:srgbClr val="1D232D"/>
          </a:solidFill>
          <a:ln w="19050">
            <a:solidFill>
              <a:srgbClr val="C6F2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048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12280" y="1837944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Speech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12280" y="2148840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Tamil pronunciation &amp; flow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887968" y="1691640"/>
            <a:ext cx="2596896" cy="1051560"/>
          </a:xfrm>
          <a:prstGeom prst="roundRect">
            <a:avLst>
              <a:gd name="adj" fmla="val 6087"/>
            </a:avLst>
          </a:prstGeom>
          <a:solidFill>
            <a:srgbClr val="171C24"/>
          </a:solidFill>
          <a:ln/>
        </p:spPr>
      </p:sp>
      <p:sp>
        <p:nvSpPr>
          <p:cNvPr id="14" name="Shape 12"/>
          <p:cNvSpPr/>
          <p:nvPr/>
        </p:nvSpPr>
        <p:spPr>
          <a:xfrm>
            <a:off x="9089136" y="1892808"/>
            <a:ext cx="457200" cy="457200"/>
          </a:xfrm>
          <a:prstGeom prst="ellipse">
            <a:avLst/>
          </a:prstGeom>
          <a:solidFill>
            <a:srgbClr val="1D232D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89136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710928" y="1837944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Emotion-Aware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710928" y="2148840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Joy, sorrow, anger, fear, surprise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89320" y="2944368"/>
            <a:ext cx="2596896" cy="1051560"/>
          </a:xfrm>
          <a:prstGeom prst="roundRect">
            <a:avLst>
              <a:gd name="adj" fmla="val 6087"/>
            </a:avLst>
          </a:prstGeom>
          <a:solidFill>
            <a:srgbClr val="171C24"/>
          </a:solidFill>
          <a:ln/>
        </p:spPr>
      </p:sp>
      <p:sp>
        <p:nvSpPr>
          <p:cNvPr id="19" name="Shape 17"/>
          <p:cNvSpPr/>
          <p:nvPr/>
        </p:nvSpPr>
        <p:spPr>
          <a:xfrm>
            <a:off x="6190488" y="3145536"/>
            <a:ext cx="457200" cy="457200"/>
          </a:xfrm>
          <a:prstGeom prst="ellipse">
            <a:avLst/>
          </a:prstGeom>
          <a:solidFill>
            <a:srgbClr val="1D232D"/>
          </a:solidFill>
          <a:ln w="19050">
            <a:solidFill>
              <a:srgbClr val="C6F2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0488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12280" y="3090672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Voices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812280" y="3401568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voice per speaker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87968" y="2944368"/>
            <a:ext cx="2596896" cy="1051560"/>
          </a:xfrm>
          <a:prstGeom prst="roundRect">
            <a:avLst>
              <a:gd name="adj" fmla="val 6087"/>
            </a:avLst>
          </a:prstGeom>
          <a:solidFill>
            <a:srgbClr val="171C24"/>
          </a:solidFill>
          <a:ln/>
        </p:spPr>
      </p:sp>
      <p:sp>
        <p:nvSpPr>
          <p:cNvPr id="24" name="Shape 22"/>
          <p:cNvSpPr/>
          <p:nvPr/>
        </p:nvSpPr>
        <p:spPr>
          <a:xfrm>
            <a:off x="9089136" y="3145536"/>
            <a:ext cx="457200" cy="457200"/>
          </a:xfrm>
          <a:prstGeom prst="ellipse">
            <a:avLst/>
          </a:prstGeom>
          <a:solidFill>
            <a:srgbClr val="1D232D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89136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710928" y="3090672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Quality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710928" y="3401568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&amp; modern literature, broadcast audio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00023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ABSTRACT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Deserves More Than Monotone TTS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TTS today produces flat, monotone speech that strips away the emotional richness of Sangam poetry and modern fiction alike. KuralAI pairs a lightweight, rule-based emotion tagger with neural TTS to deliver narration that respects the source material's dramatic intent — without requiring GPU-heavy models.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171C2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9900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80M+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35021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speakers with no expressive TTS option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288036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171C2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9900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0" y="35021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categories detected per segment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38160" y="288036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171C24"/>
          </a:solidFill>
          <a:ln/>
        </p:spPr>
      </p:sp>
      <p:sp>
        <p:nvSpPr>
          <p:cNvPr id="12" name="Text 10"/>
          <p:cNvSpPr/>
          <p:nvPr/>
        </p:nvSpPr>
        <p:spPr>
          <a:xfrm>
            <a:off x="8366760" y="29900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366760" y="35021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 required — runs on any device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1A1315"/>
          </a:solidFill>
          <a:ln w="12700">
            <a:solidFill>
              <a:srgbClr val="3A22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5079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TAMIL TTS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8463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Flat, monotone delivery  ·  Single generic voice  ·  Ignores emotional context in the text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434340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12201A"/>
          </a:solidFill>
          <a:ln w="12700">
            <a:solidFill>
              <a:srgbClr val="C6F2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45079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KURALAI APPROACH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48463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Emotion-aware prosody  ·  Distinct multi-character voices  ·  Lightweight, edge-friendly pipeline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00023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Four-Stage Pipeline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8096" y="2148840"/>
            <a:ext cx="2423160" cy="3200400"/>
          </a:xfrm>
          <a:prstGeom prst="roundRect">
            <a:avLst>
              <a:gd name="adj" fmla="val 3396"/>
            </a:avLst>
          </a:prstGeom>
          <a:solidFill>
            <a:srgbClr val="171C24"/>
          </a:solidFill>
          <a:ln/>
        </p:spPr>
      </p:sp>
      <p:sp>
        <p:nvSpPr>
          <p:cNvPr id="5" name="Shape 3"/>
          <p:cNvSpPr/>
          <p:nvPr/>
        </p:nvSpPr>
        <p:spPr>
          <a:xfrm>
            <a:off x="1696212" y="2423160"/>
            <a:ext cx="566928" cy="566928"/>
          </a:xfrm>
          <a:prstGeom prst="ellipse">
            <a:avLst/>
          </a:prstGeom>
          <a:solidFill>
            <a:srgbClr val="1D232D"/>
          </a:solidFill>
          <a:ln w="19050">
            <a:solidFill>
              <a:srgbClr val="C6F2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96212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32688" y="320040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50976" y="384048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Tamil Unicode, segment sentences, detect dialogue vs. narration.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18688" y="3675888"/>
            <a:ext cx="265176" cy="146304"/>
          </a:xfrm>
          <a:prstGeom prst="rightArrow">
            <a:avLst/>
          </a:prstGeom>
          <a:solidFill>
            <a:srgbClr val="6B7480"/>
          </a:solidFill>
          <a:ln/>
        </p:spPr>
      </p:sp>
      <p:sp>
        <p:nvSpPr>
          <p:cNvPr id="10" name="Shape 8"/>
          <p:cNvSpPr/>
          <p:nvPr/>
        </p:nvSpPr>
        <p:spPr>
          <a:xfrm>
            <a:off x="3511296" y="2148840"/>
            <a:ext cx="2423160" cy="3200400"/>
          </a:xfrm>
          <a:prstGeom prst="roundRect">
            <a:avLst>
              <a:gd name="adj" fmla="val 3396"/>
            </a:avLst>
          </a:prstGeom>
          <a:solidFill>
            <a:srgbClr val="171C24"/>
          </a:solidFill>
          <a:ln/>
        </p:spPr>
      </p:sp>
      <p:sp>
        <p:nvSpPr>
          <p:cNvPr id="11" name="Shape 9"/>
          <p:cNvSpPr/>
          <p:nvPr/>
        </p:nvSpPr>
        <p:spPr>
          <a:xfrm>
            <a:off x="4439412" y="2423160"/>
            <a:ext cx="566928" cy="566928"/>
          </a:xfrm>
          <a:prstGeom prst="ellipse">
            <a:avLst/>
          </a:prstGeom>
          <a:solidFill>
            <a:srgbClr val="1D232D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9412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75888" y="320040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Tagging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94176" y="384048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keyword &amp; regex classifier — 6 emotion categories, zero ML overhead.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61888" y="3675888"/>
            <a:ext cx="265176" cy="146304"/>
          </a:xfrm>
          <a:prstGeom prst="rightArrow">
            <a:avLst/>
          </a:prstGeom>
          <a:solidFill>
            <a:srgbClr val="6B7480"/>
          </a:solidFill>
          <a:ln/>
        </p:spPr>
      </p:sp>
      <p:sp>
        <p:nvSpPr>
          <p:cNvPr id="16" name="Shape 14"/>
          <p:cNvSpPr/>
          <p:nvPr/>
        </p:nvSpPr>
        <p:spPr>
          <a:xfrm>
            <a:off x="6254496" y="2148840"/>
            <a:ext cx="2423160" cy="3200400"/>
          </a:xfrm>
          <a:prstGeom prst="roundRect">
            <a:avLst>
              <a:gd name="adj" fmla="val 3396"/>
            </a:avLst>
          </a:prstGeom>
          <a:solidFill>
            <a:srgbClr val="171C24"/>
          </a:solidFill>
          <a:ln/>
        </p:spPr>
      </p:sp>
      <p:sp>
        <p:nvSpPr>
          <p:cNvPr id="17" name="Shape 15"/>
          <p:cNvSpPr/>
          <p:nvPr/>
        </p:nvSpPr>
        <p:spPr>
          <a:xfrm>
            <a:off x="7182612" y="2423160"/>
            <a:ext cx="566928" cy="566928"/>
          </a:xfrm>
          <a:prstGeom prst="ellipse">
            <a:avLst/>
          </a:prstGeom>
          <a:solidFill>
            <a:srgbClr val="1D232D"/>
          </a:solidFill>
          <a:ln w="19050">
            <a:solidFill>
              <a:srgbClr val="C6F2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82612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19088" y="320040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Assignment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37376" y="384048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characters to distinct voice profiles by pitch, speed &amp; timbre.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705088" y="3675888"/>
            <a:ext cx="265176" cy="146304"/>
          </a:xfrm>
          <a:prstGeom prst="rightArrow">
            <a:avLst/>
          </a:prstGeom>
          <a:solidFill>
            <a:srgbClr val="6B7480"/>
          </a:solidFill>
          <a:ln/>
        </p:spPr>
      </p:sp>
      <p:sp>
        <p:nvSpPr>
          <p:cNvPr id="22" name="Shape 20"/>
          <p:cNvSpPr/>
          <p:nvPr/>
        </p:nvSpPr>
        <p:spPr>
          <a:xfrm>
            <a:off x="8997696" y="2148840"/>
            <a:ext cx="2423160" cy="3200400"/>
          </a:xfrm>
          <a:prstGeom prst="roundRect">
            <a:avLst>
              <a:gd name="adj" fmla="val 3396"/>
            </a:avLst>
          </a:prstGeom>
          <a:solidFill>
            <a:srgbClr val="171C24"/>
          </a:solidFill>
          <a:ln/>
        </p:spPr>
      </p:sp>
      <p:sp>
        <p:nvSpPr>
          <p:cNvPr id="23" name="Shape 21"/>
          <p:cNvSpPr/>
          <p:nvPr/>
        </p:nvSpPr>
        <p:spPr>
          <a:xfrm>
            <a:off x="9925812" y="2423160"/>
            <a:ext cx="566928" cy="566928"/>
          </a:xfrm>
          <a:prstGeom prst="ellipse">
            <a:avLst/>
          </a:prstGeom>
          <a:solidFill>
            <a:srgbClr val="1D232D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25812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62288" y="320040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TTS Synthesis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80576" y="384048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edge-tts renders emotion-tuned prosody into final audiobook audio.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— TTS backend can be swapped as stronger Tamil neural models emerge.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00023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67512" y="228600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171C24"/>
          </a:solidFill>
          <a:ln w="15875">
            <a:solidFill>
              <a:srgbClr val="9AA5B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228600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1D232D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95528" y="2880360"/>
            <a:ext cx="17099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Tamil text</a:t>
            </a:r>
            <a:endParaRPr lang="en-US" sz="105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(.txt / .docx)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51760" y="3355848"/>
            <a:ext cx="219456" cy="146304"/>
          </a:xfrm>
          <a:prstGeom prst="rightArrow">
            <a:avLst/>
          </a:prstGeom>
          <a:solidFill>
            <a:srgbClr val="6B7480"/>
          </a:solidFill>
          <a:ln/>
        </p:spPr>
      </p:sp>
      <p:sp>
        <p:nvSpPr>
          <p:cNvPr id="9" name="Shape 7"/>
          <p:cNvSpPr/>
          <p:nvPr/>
        </p:nvSpPr>
        <p:spPr>
          <a:xfrm>
            <a:off x="2889504" y="228600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171C24"/>
          </a:solidFill>
          <a:ln w="15875">
            <a:solidFill>
              <a:srgbClr val="C6F2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9504" y="228600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1D232D"/>
          </a:solidFill>
          <a:ln/>
        </p:spPr>
      </p:sp>
      <p:sp>
        <p:nvSpPr>
          <p:cNvPr id="11" name="Text 9"/>
          <p:cNvSpPr/>
          <p:nvPr/>
        </p:nvSpPr>
        <p:spPr>
          <a:xfrm>
            <a:off x="2889504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17520" y="2880360"/>
            <a:ext cx="17099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normalize</a:t>
            </a:r>
            <a:endParaRPr lang="en-US" sz="105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segment</a:t>
            </a:r>
            <a:endParaRPr lang="en-US" sz="105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detect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73752" y="3355848"/>
            <a:ext cx="219456" cy="146304"/>
          </a:xfrm>
          <a:prstGeom prst="rightArrow">
            <a:avLst/>
          </a:prstGeom>
          <a:solidFill>
            <a:srgbClr val="6B7480"/>
          </a:solidFill>
          <a:ln/>
        </p:spPr>
      </p:sp>
      <p:sp>
        <p:nvSpPr>
          <p:cNvPr id="14" name="Shape 12"/>
          <p:cNvSpPr/>
          <p:nvPr/>
        </p:nvSpPr>
        <p:spPr>
          <a:xfrm>
            <a:off x="5111496" y="228600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171C24"/>
          </a:solidFill>
          <a:ln w="15875">
            <a:solidFill>
              <a:srgbClr val="2EC4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11496" y="228600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1D232D"/>
          </a:solidFill>
          <a:ln/>
        </p:spPr>
      </p:sp>
      <p:sp>
        <p:nvSpPr>
          <p:cNvPr id="16" name="Text 14"/>
          <p:cNvSpPr/>
          <p:nvPr/>
        </p:nvSpPr>
        <p:spPr>
          <a:xfrm>
            <a:off x="5111496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TAG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239512" y="2880360"/>
            <a:ext cx="17099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+ regex</a:t>
            </a:r>
            <a:endParaRPr lang="en-US" sz="105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categories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095744" y="3355848"/>
            <a:ext cx="219456" cy="146304"/>
          </a:xfrm>
          <a:prstGeom prst="rightArrow">
            <a:avLst/>
          </a:prstGeom>
          <a:solidFill>
            <a:srgbClr val="6B7480"/>
          </a:solidFill>
          <a:ln/>
        </p:spPr>
      </p:sp>
      <p:sp>
        <p:nvSpPr>
          <p:cNvPr id="19" name="Shape 17"/>
          <p:cNvSpPr/>
          <p:nvPr/>
        </p:nvSpPr>
        <p:spPr>
          <a:xfrm>
            <a:off x="7333488" y="228600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171C24"/>
          </a:solidFill>
          <a:ln w="15875">
            <a:solidFill>
              <a:srgbClr val="C6F24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33488" y="228600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1D232D"/>
          </a:solidFill>
          <a:ln/>
        </p:spPr>
      </p:sp>
      <p:sp>
        <p:nvSpPr>
          <p:cNvPr id="21" name="Text 19"/>
          <p:cNvSpPr/>
          <p:nvPr/>
        </p:nvSpPr>
        <p:spPr>
          <a:xfrm>
            <a:off x="7333488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ASSIGN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461504" y="2880360"/>
            <a:ext cx="17099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ID</a:t>
            </a:r>
            <a:endParaRPr lang="en-US" sz="105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/ speed profile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317736" y="3355848"/>
            <a:ext cx="219456" cy="146304"/>
          </a:xfrm>
          <a:prstGeom prst="rightArrow">
            <a:avLst/>
          </a:prstGeom>
          <a:solidFill>
            <a:srgbClr val="6B7480"/>
          </a:solidFill>
          <a:ln/>
        </p:spPr>
      </p:sp>
      <p:sp>
        <p:nvSpPr>
          <p:cNvPr id="24" name="Shape 22"/>
          <p:cNvSpPr/>
          <p:nvPr/>
        </p:nvSpPr>
        <p:spPr>
          <a:xfrm>
            <a:off x="9555480" y="228600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171C24"/>
          </a:solidFill>
          <a:ln w="15875">
            <a:solidFill>
              <a:srgbClr val="2EC4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55480" y="228600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1D232D"/>
          </a:solidFill>
          <a:ln/>
        </p:spPr>
      </p:sp>
      <p:sp>
        <p:nvSpPr>
          <p:cNvPr id="26" name="Text 24"/>
          <p:cNvSpPr/>
          <p:nvPr/>
        </p:nvSpPr>
        <p:spPr>
          <a:xfrm>
            <a:off x="9555480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OUTPUT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683496" y="2880360"/>
            <a:ext cx="17099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synthesis</a:t>
            </a:r>
            <a:endParaRPr lang="en-US" sz="105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prosody</a:t>
            </a:r>
            <a:endParaRPr lang="en-US" sz="105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.mp3 / .wav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4846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— End-to-end pipeline: Tamil text → expressive audiobook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00023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orkflow_diagram_16x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2175302"/>
            <a:ext cx="11582400" cy="25073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· DETAILED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Logic &amp; Voice Dispatch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text ingestion through speaker attribution, emotion tagging, voice dispatch, and silence-aware audio stitching to final delivery.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5196" y="2011680"/>
            <a:ext cx="11338560" cy="2685486"/>
          </a:xfrm>
          <a:prstGeom prst="roundRect">
            <a:avLst>
              <a:gd name="adj" fmla="val 2724"/>
            </a:avLst>
          </a:prstGeom>
          <a:solidFill>
            <a:srgbClr val="171C24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488004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 — Detailed pipeline logic: ingestion → tagging → voice dispatch → stitched audio → delivery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00023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KuralAI</a:t>
            </a:r>
            <a:endParaRPr lang="en-US" sz="900" dirty="0"/>
          </a:p>
        </p:txBody>
      </p:sp>
      <p:pic>
        <p:nvPicPr>
          <p:cNvPr id="10" name="Picture 9" descr="workflow_diagram_16x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" y="2148840"/>
            <a:ext cx="11064240" cy="24111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· PLANNED FOR ROUND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Text to Audiobook, Live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Features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65760" cy="365760"/>
          </a:xfrm>
          <a:prstGeom prst="ellipse">
            <a:avLst/>
          </a:prstGeom>
          <a:solidFill>
            <a:srgbClr val="1D232D"/>
          </a:solidFill>
          <a:ln w="19050">
            <a:solidFill>
              <a:srgbClr val="C6F2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2029968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or paste a Tamil story / poem excerpt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365760" cy="365760"/>
          </a:xfrm>
          <a:prstGeom prst="ellipse">
            <a:avLst/>
          </a:prstGeom>
          <a:solidFill>
            <a:srgbClr val="1D232D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24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96896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color-coded emotion tagging view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191256"/>
            <a:ext cx="365760" cy="365760"/>
          </a:xfrm>
          <a:prstGeom prst="ellipse">
            <a:avLst/>
          </a:prstGeom>
          <a:solidFill>
            <a:srgbClr val="1D232D"/>
          </a:solidFill>
          <a:ln w="19050">
            <a:solidFill>
              <a:srgbClr val="C6F2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91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163824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voice assignment panel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58184"/>
            <a:ext cx="365760" cy="365760"/>
          </a:xfrm>
          <a:prstGeom prst="ellipse">
            <a:avLst/>
          </a:prstGeom>
          <a:solidFill>
            <a:srgbClr val="1D232D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58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730752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 playback + downloadable .mp3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09360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20574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680960" y="2057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09360" y="2514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680960" y="25146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(Flask)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09360" y="2971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680960" y="29718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+ custom Tamil tokenizer + regex tagger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309360" y="3429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680960" y="34290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edge-tts — Microsoft neural voices, free, no API key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09360" y="3886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680960" y="38862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pydub — concatenation &amp; format conversion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22376" y="5074920"/>
            <a:ext cx="1965960" cy="594360"/>
          </a:xfrm>
          <a:prstGeom prst="roundRect">
            <a:avLst>
              <a:gd name="adj" fmla="val 49231"/>
            </a:avLst>
          </a:prstGeom>
          <a:solidFill>
            <a:srgbClr val="171C24"/>
          </a:solidFill>
          <a:ln w="12700">
            <a:solidFill>
              <a:srgbClr val="6B74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" y="50749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UI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06624" y="5308092"/>
            <a:ext cx="192024" cy="146304"/>
          </a:xfrm>
          <a:prstGeom prst="rightArrow">
            <a:avLst/>
          </a:prstGeom>
          <a:solidFill>
            <a:srgbClr val="6B7480"/>
          </a:solidFill>
          <a:ln/>
        </p:spPr>
      </p:sp>
      <p:sp>
        <p:nvSpPr>
          <p:cNvPr id="31" name="Shape 29"/>
          <p:cNvSpPr/>
          <p:nvPr/>
        </p:nvSpPr>
        <p:spPr>
          <a:xfrm>
            <a:off x="2916936" y="5074920"/>
            <a:ext cx="1965960" cy="594360"/>
          </a:xfrm>
          <a:prstGeom prst="roundRect">
            <a:avLst>
              <a:gd name="adj" fmla="val 49231"/>
            </a:avLst>
          </a:prstGeom>
          <a:solidFill>
            <a:srgbClr val="171C24"/>
          </a:solidFill>
          <a:ln w="12700">
            <a:solidFill>
              <a:srgbClr val="6B74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16936" y="50749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901184" y="5308092"/>
            <a:ext cx="192024" cy="146304"/>
          </a:xfrm>
          <a:prstGeom prst="rightArrow">
            <a:avLst/>
          </a:prstGeom>
          <a:solidFill>
            <a:srgbClr val="6B7480"/>
          </a:solidFill>
          <a:ln/>
        </p:spPr>
      </p:sp>
      <p:sp>
        <p:nvSpPr>
          <p:cNvPr id="34" name="Shape 32"/>
          <p:cNvSpPr/>
          <p:nvPr/>
        </p:nvSpPr>
        <p:spPr>
          <a:xfrm>
            <a:off x="5111496" y="5074920"/>
            <a:ext cx="1965960" cy="594360"/>
          </a:xfrm>
          <a:prstGeom prst="roundRect">
            <a:avLst>
              <a:gd name="adj" fmla="val 49231"/>
            </a:avLst>
          </a:prstGeom>
          <a:solidFill>
            <a:srgbClr val="171C24"/>
          </a:solidFill>
          <a:ln w="12700">
            <a:solidFill>
              <a:srgbClr val="C6F24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11496" y="50749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+ Emotion Tag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095744" y="5308092"/>
            <a:ext cx="192024" cy="146304"/>
          </a:xfrm>
          <a:prstGeom prst="rightArrow">
            <a:avLst/>
          </a:prstGeom>
          <a:solidFill>
            <a:srgbClr val="6B7480"/>
          </a:solidFill>
          <a:ln/>
        </p:spPr>
      </p:sp>
      <p:sp>
        <p:nvSpPr>
          <p:cNvPr id="37" name="Shape 35"/>
          <p:cNvSpPr/>
          <p:nvPr/>
        </p:nvSpPr>
        <p:spPr>
          <a:xfrm>
            <a:off x="7306056" y="5074920"/>
            <a:ext cx="1965960" cy="594360"/>
          </a:xfrm>
          <a:prstGeom prst="roundRect">
            <a:avLst>
              <a:gd name="adj" fmla="val 49231"/>
            </a:avLst>
          </a:prstGeom>
          <a:solidFill>
            <a:srgbClr val="171C24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06056" y="50749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edge-tts Synthesis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290304" y="5308092"/>
            <a:ext cx="192024" cy="146304"/>
          </a:xfrm>
          <a:prstGeom prst="rightArrow">
            <a:avLst/>
          </a:prstGeom>
          <a:solidFill>
            <a:srgbClr val="6B7480"/>
          </a:solidFill>
          <a:ln/>
        </p:spPr>
      </p:sp>
      <p:sp>
        <p:nvSpPr>
          <p:cNvPr id="40" name="Shape 38"/>
          <p:cNvSpPr/>
          <p:nvPr/>
        </p:nvSpPr>
        <p:spPr>
          <a:xfrm>
            <a:off x="9500616" y="5074920"/>
            <a:ext cx="1965960" cy="594360"/>
          </a:xfrm>
          <a:prstGeom prst="roundRect">
            <a:avLst>
              <a:gd name="adj" fmla="val 49231"/>
            </a:avLst>
          </a:prstGeom>
          <a:solidFill>
            <a:srgbClr val="171C24"/>
          </a:solidFill>
          <a:ln w="12700">
            <a:solidFill>
              <a:srgbClr val="6B74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00616" y="50749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Output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100023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KuralAI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is live — paste Tamil text or pick a sample passage and generate a multi-voice audiobook in the browser.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94076" y="1783080"/>
            <a:ext cx="6400800" cy="3701083"/>
          </a:xfrm>
          <a:prstGeom prst="roundRect">
            <a:avLst>
              <a:gd name="adj" fmla="val 1977"/>
            </a:avLst>
          </a:prstGeom>
          <a:solidFill>
            <a:srgbClr val="FFFFFF"/>
          </a:solidFill>
          <a:ln w="12700">
            <a:solidFill>
              <a:srgbClr val="1D23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94076" y="1783080"/>
            <a:ext cx="6400800" cy="347472"/>
          </a:xfrm>
          <a:prstGeom prst="roundRect">
            <a:avLst>
              <a:gd name="adj" fmla="val 21053"/>
            </a:avLst>
          </a:prstGeom>
          <a:solidFill>
            <a:srgbClr val="1D232D"/>
          </a:solidFill>
          <a:ln/>
        </p:spPr>
      </p:sp>
      <p:sp>
        <p:nvSpPr>
          <p:cNvPr id="7" name="Shape 5"/>
          <p:cNvSpPr/>
          <p:nvPr/>
        </p:nvSpPr>
        <p:spPr>
          <a:xfrm>
            <a:off x="3058668" y="1901952"/>
            <a:ext cx="109728" cy="109728"/>
          </a:xfrm>
          <a:prstGeom prst="ellipse">
            <a:avLst/>
          </a:prstGeom>
          <a:solidFill>
            <a:srgbClr val="E0605A"/>
          </a:solidFill>
          <a:ln/>
        </p:spPr>
      </p:sp>
      <p:sp>
        <p:nvSpPr>
          <p:cNvPr id="8" name="Shape 6"/>
          <p:cNvSpPr/>
          <p:nvPr/>
        </p:nvSpPr>
        <p:spPr>
          <a:xfrm>
            <a:off x="3259836" y="1901952"/>
            <a:ext cx="109728" cy="109728"/>
          </a:xfrm>
          <a:prstGeom prst="ellipse">
            <a:avLst/>
          </a:prstGeom>
          <a:solidFill>
            <a:srgbClr val="E5B85C"/>
          </a:solidFill>
          <a:ln/>
        </p:spPr>
      </p:sp>
      <p:sp>
        <p:nvSpPr>
          <p:cNvPr id="9" name="Shape 7"/>
          <p:cNvSpPr/>
          <p:nvPr/>
        </p:nvSpPr>
        <p:spPr>
          <a:xfrm>
            <a:off x="3461004" y="1901952"/>
            <a:ext cx="109728" cy="109728"/>
          </a:xfrm>
          <a:prstGeom prst="ellipse">
            <a:avLst/>
          </a:prstGeom>
          <a:solidFill>
            <a:srgbClr val="5CB85C"/>
          </a:solidFill>
          <a:ln/>
        </p:spPr>
      </p:sp>
      <p:sp>
        <p:nvSpPr>
          <p:cNvPr id="10" name="Shape 8"/>
          <p:cNvSpPr/>
          <p:nvPr/>
        </p:nvSpPr>
        <p:spPr>
          <a:xfrm>
            <a:off x="3808476" y="1847088"/>
            <a:ext cx="5212080" cy="219456"/>
          </a:xfrm>
          <a:prstGeom prst="roundRect">
            <a:avLst>
              <a:gd name="adj" fmla="val 41667"/>
            </a:avLst>
          </a:prstGeom>
          <a:solidFill>
            <a:srgbClr val="2A303B"/>
          </a:solidFill>
          <a:ln/>
        </p:spPr>
      </p:sp>
      <p:sp>
        <p:nvSpPr>
          <p:cNvPr id="11" name="Text 9"/>
          <p:cNvSpPr/>
          <p:nvPr/>
        </p:nvSpPr>
        <p:spPr>
          <a:xfrm>
            <a:off x="3945636" y="184708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verycareful.github.io/KuralAI</a:t>
            </a:r>
            <a:endParaRPr lang="en-US" sz="1050" dirty="0"/>
          </a:p>
        </p:txBody>
      </p:sp>
      <p:pic>
        <p:nvPicPr>
          <p:cNvPr id="12" name="Image 0" descr="/home/claude/build/Screenshot_2026-08-14_0940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4076" y="2130552"/>
            <a:ext cx="6400800" cy="335361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5740195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prototype: </a:t>
            </a:r>
            <a:pPr algn="ctr" indent="0" marL="0">
              <a:buNone/>
            </a:pPr>
            <a:r>
              <a:rPr lang="en-US" sz="130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verycareful.github.io/KuralAI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00023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KuralAI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58284" y="2011680"/>
            <a:ext cx="173736" cy="274320"/>
          </a:xfrm>
          <a:prstGeom prst="roundRect">
            <a:avLst>
              <a:gd name="adj" fmla="val 26316"/>
            </a:avLst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4814316" y="1783080"/>
            <a:ext cx="173736" cy="502920"/>
          </a:xfrm>
          <a:prstGeom prst="roundRect">
            <a:avLst>
              <a:gd name="adj" fmla="val 26316"/>
            </a:avLst>
          </a:prstGeom>
          <a:solidFill>
            <a:srgbClr val="C6F24E"/>
          </a:solidFill>
          <a:ln/>
        </p:spPr>
      </p:sp>
      <p:sp>
        <p:nvSpPr>
          <p:cNvPr id="4" name="Shape 2"/>
          <p:cNvSpPr/>
          <p:nvPr/>
        </p:nvSpPr>
        <p:spPr>
          <a:xfrm>
            <a:off x="5070348" y="1463040"/>
            <a:ext cx="173736" cy="822960"/>
          </a:xfrm>
          <a:prstGeom prst="roundRect">
            <a:avLst>
              <a:gd name="adj" fmla="val 26316"/>
            </a:avLst>
          </a:prstGeom>
          <a:solidFill>
            <a:srgbClr val="C6F24E"/>
          </a:solidFill>
          <a:ln/>
        </p:spPr>
      </p:sp>
      <p:sp>
        <p:nvSpPr>
          <p:cNvPr id="5" name="Shape 3"/>
          <p:cNvSpPr/>
          <p:nvPr/>
        </p:nvSpPr>
        <p:spPr>
          <a:xfrm>
            <a:off x="5326380" y="1874520"/>
            <a:ext cx="173736" cy="411480"/>
          </a:xfrm>
          <a:prstGeom prst="roundRect">
            <a:avLst>
              <a:gd name="adj" fmla="val 26316"/>
            </a:avLst>
          </a:prstGeom>
          <a:solidFill>
            <a:srgbClr val="2EC4B6"/>
          </a:solidFill>
          <a:ln/>
        </p:spPr>
      </p:sp>
      <p:sp>
        <p:nvSpPr>
          <p:cNvPr id="6" name="Shape 4"/>
          <p:cNvSpPr/>
          <p:nvPr/>
        </p:nvSpPr>
        <p:spPr>
          <a:xfrm>
            <a:off x="5582412" y="1280160"/>
            <a:ext cx="173736" cy="1005840"/>
          </a:xfrm>
          <a:prstGeom prst="roundRect">
            <a:avLst>
              <a:gd name="adj" fmla="val 26316"/>
            </a:avLst>
          </a:prstGeom>
          <a:solidFill>
            <a:srgbClr val="C6F24E"/>
          </a:solidFill>
          <a:ln/>
        </p:spPr>
      </p:sp>
      <p:sp>
        <p:nvSpPr>
          <p:cNvPr id="7" name="Shape 5"/>
          <p:cNvSpPr/>
          <p:nvPr/>
        </p:nvSpPr>
        <p:spPr>
          <a:xfrm>
            <a:off x="5838444" y="1645920"/>
            <a:ext cx="173736" cy="640080"/>
          </a:xfrm>
          <a:prstGeom prst="roundRect">
            <a:avLst>
              <a:gd name="adj" fmla="val 26316"/>
            </a:avLst>
          </a:prstGeom>
          <a:solidFill>
            <a:srgbClr val="C6F24E"/>
          </a:solidFill>
          <a:ln/>
        </p:spPr>
      </p:sp>
      <p:sp>
        <p:nvSpPr>
          <p:cNvPr id="8" name="Shape 6"/>
          <p:cNvSpPr/>
          <p:nvPr/>
        </p:nvSpPr>
        <p:spPr>
          <a:xfrm>
            <a:off x="6094476" y="1143000"/>
            <a:ext cx="173736" cy="1143000"/>
          </a:xfrm>
          <a:prstGeom prst="roundRect">
            <a:avLst>
              <a:gd name="adj" fmla="val 26316"/>
            </a:avLst>
          </a:prstGeom>
          <a:solidFill>
            <a:srgbClr val="2EC4B6"/>
          </a:solidFill>
          <a:ln/>
        </p:spPr>
      </p:sp>
      <p:sp>
        <p:nvSpPr>
          <p:cNvPr id="9" name="Shape 7"/>
          <p:cNvSpPr/>
          <p:nvPr/>
        </p:nvSpPr>
        <p:spPr>
          <a:xfrm>
            <a:off x="6350508" y="1828800"/>
            <a:ext cx="173736" cy="457200"/>
          </a:xfrm>
          <a:prstGeom prst="roundRect">
            <a:avLst>
              <a:gd name="adj" fmla="val 26316"/>
            </a:avLst>
          </a:prstGeom>
          <a:solidFill>
            <a:srgbClr val="C6F24E"/>
          </a:solidFill>
          <a:ln/>
        </p:spPr>
      </p:sp>
      <p:sp>
        <p:nvSpPr>
          <p:cNvPr id="10" name="Shape 8"/>
          <p:cNvSpPr/>
          <p:nvPr/>
        </p:nvSpPr>
        <p:spPr>
          <a:xfrm>
            <a:off x="6606540" y="1417320"/>
            <a:ext cx="173736" cy="868680"/>
          </a:xfrm>
          <a:prstGeom prst="roundRect">
            <a:avLst>
              <a:gd name="adj" fmla="val 26316"/>
            </a:avLst>
          </a:prstGeom>
          <a:solidFill>
            <a:srgbClr val="C6F24E"/>
          </a:solidFill>
          <a:ln/>
        </p:spPr>
      </p:sp>
      <p:sp>
        <p:nvSpPr>
          <p:cNvPr id="11" name="Shape 9"/>
          <p:cNvSpPr/>
          <p:nvPr/>
        </p:nvSpPr>
        <p:spPr>
          <a:xfrm>
            <a:off x="6862572" y="1920240"/>
            <a:ext cx="173736" cy="365760"/>
          </a:xfrm>
          <a:prstGeom prst="roundRect">
            <a:avLst>
              <a:gd name="adj" fmla="val 26316"/>
            </a:avLst>
          </a:prstGeom>
          <a:solidFill>
            <a:srgbClr val="2EC4B6"/>
          </a:solidFill>
          <a:ln/>
        </p:spPr>
      </p:sp>
      <p:sp>
        <p:nvSpPr>
          <p:cNvPr id="12" name="Shape 10"/>
          <p:cNvSpPr/>
          <p:nvPr/>
        </p:nvSpPr>
        <p:spPr>
          <a:xfrm>
            <a:off x="7118604" y="1600200"/>
            <a:ext cx="173736" cy="685800"/>
          </a:xfrm>
          <a:prstGeom prst="roundRect">
            <a:avLst>
              <a:gd name="adj" fmla="val 26316"/>
            </a:avLst>
          </a:prstGeom>
          <a:solidFill>
            <a:srgbClr val="C6F24E"/>
          </a:solidFill>
          <a:ln/>
        </p:spPr>
      </p:sp>
      <p:sp>
        <p:nvSpPr>
          <p:cNvPr id="13" name="Shape 11"/>
          <p:cNvSpPr/>
          <p:nvPr/>
        </p:nvSpPr>
        <p:spPr>
          <a:xfrm>
            <a:off x="7374636" y="1965960"/>
            <a:ext cx="173736" cy="320040"/>
          </a:xfrm>
          <a:prstGeom prst="roundRect">
            <a:avLst>
              <a:gd name="adj" fmla="val 26316"/>
            </a:avLst>
          </a:prstGeom>
          <a:solidFill>
            <a:srgbClr val="C6F24E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274320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0" y="37033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KuralAI  ·  Expressive Tamil Audiobook Generator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0" y="42062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Sricharan Suresh   ·   Mani Shankar B   ·   Jai Vignesh 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2026-08-14T04:13:22Z</dcterms:created>
  <dcterms:modified xsi:type="dcterms:W3CDTF">2026-08-14T04:13:22Z</dcterms:modified>
</cp:coreProperties>
</file>